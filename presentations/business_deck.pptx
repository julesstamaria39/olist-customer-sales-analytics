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analysis to plan a measured pilot</a:t>
            </a:r>
          </a:p>
          <a:p/>
          <a:p>
            <a:r>
              <a:t>Source: https://www.kaggle.com/datasets/olistbr/brazilian-ecommerce/versions/2</a:t>
            </a:r>
          </a:p>
          <a:p>
            <a:r>
              <a:t>Publisher: Olist; listed license: CC BY-NC-SA 4.0. The dataset is historical and does not represent today's Olist operations. Raw-file hashes and counts are in docs/DATA_MANIFEST.json.</a:t>
            </a:r>
          </a:p>
          <a:p/>
          <a:p>
            <a:r>
              <a:t>Evidence: Source: Final_Project.ipynb, executed Steps 1-5; exported model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business decisions guide the project</a:t>
            </a:r>
          </a:p>
          <a:p/>
          <a:p>
            <a:r>
              <a:t>Source: https://www.kaggle.com/datasets/olistbr/brazilian-ecommerce/versions/2</a:t>
            </a:r>
          </a:p>
          <a:p>
            <a:r>
              <a:t>Publisher: Olist; listed license: CC BY-NC-SA 4.0. The dataset is historical and does not represent today's Olist operations. Raw-file hashes and counts are in docs/DATA_MANIFEST.json.</a:t>
            </a:r>
          </a:p>
          <a:p/>
          <a:p>
            <a:r>
              <a:t>Evidence: Source: Final_Project.ipynb, executed Steps 1-5; exported model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large single-order group still matters</a:t>
            </a:r>
          </a:p>
          <a:p/>
          <a:p>
            <a:r>
              <a:t>The 5800 single-order customers represent 96.67% of the sampled customers and 93.84% of recorded spending. The 200 repeat/broader-basket segment has 89% repeats and 90% multiple products. A historical single order is not evidence that a customer never returned elsewhere or after observation ended.</a:t>
            </a:r>
          </a:p>
          <a:p/>
          <a:p>
            <a:r>
              <a:t>Evidence: Source: 04_customer_business_profiles.csv; 6,000-customer development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Investigate the first-purchase experience</a:t>
            </a:r>
          </a:p>
          <a:p/>
          <a:p/>
          <a:p/>
          <a:p>
            <a:r>
              <a:t>Evidence: Source: notebook §4.4 and Step 2 feasibility discussion; proposed follow-up, not measured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simple forecasting rules in the decision</a:t>
            </a:r>
          </a:p>
          <a:p/>
          <a:p>
            <a:r>
              <a:t>Weekly comparison shown uses the validation-selected four-week mean benchmark. Last-week benchmark test MAE was even lower at 0.869. RF is the best ML candidate, but weekly RF MAE 1.021 versus mean0.894. Daily MAE0.850 versus mean0.817; trend matches0/5. Daily and weekly errors have different units and cannot be compared as a claim of improvement.</a:t>
            </a:r>
          </a:p>
          <a:p/>
          <a:p>
            <a:r>
              <a:t>Evidence: Source: 04_forecast_test_comparison.csv; 04_daily_trends.csv.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Concentrate review where recorded activity is</a:t>
            </a:r>
          </a:p>
          <a:p/>
          <a:p>
            <a:r>
              <a:t>Count actual product-week sales once, despite overlapping forecast windows. Product1:63/81 items, 77.78%; Product3:12; Products2/5:3 each; Product4:0. These are not category-wide figures. Full product IDs and categories are in reports/tables/04_forecast_business_profiles.csv. Availability and stockouts are unobserved; zero sales does not establish zero demand.</a:t>
            </a:r>
          </a:p>
          <a:p/>
          <a:p>
            <a:r>
              <a:t>Evidence: Source: 04_forecast_business_profiles.csv; 16 evaluated weeks, five weekly-selected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would a customer pilot need to earn?</a:t>
            </a:r>
          </a:p>
          <a:p/>
          <a:p>
            <a:r>
              <a:t>Illustrative outreach ROI, unrelated to forecast MAE. Assume1000 contacted customers, BRL40 incremental contribution per extra order after variable fulfillment costs, BRL1 outreach cost per contacted customer, BRL500 setup; totalcost1500. Uplift is percentage-point increase in the probability of one incremental order per customer, relative to a randomized control. ROI=(incremental contribution-cost)/cost. Break-even uplift1500/(1000*40)=3.75pp, or at least38 whole extra orders. Assumptions must be replaced by actual costs, opt-in eligibility and measured incremental outcomes.</a:t>
            </a:r>
          </a:p>
          <a:p/>
          <a:p>
            <a:r>
              <a:t>Evidence: Source: illustrative assumptions only; presentations/roi_scenarios.csv. No observed ROI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customer access and uncertainty visible</a:t>
            </a:r>
          </a:p>
          <a:p/>
          <a:p>
            <a:r>
              <a:t>Hypothetical higher-spending-segment offer selects200/6000. Among14 supported states, geographic rate gap3.95pp, ratio0. PA0/54 and SP94/2380 drive extremes. PA95%Wilson interval extends6.64%; fitting/selection uncertainty omitted. No gender/race/age/income fields; geographic comparisons do not satisfy a sensitive-group fairness audit. No offers were sent and no automated policy was deployed.</a:t>
            </a:r>
          </a:p>
          <a:p/>
          <a:p>
            <a:r>
              <a:t>Evidence: Source: Step 5 audit; configs/step5_bias_audit.json; 05_state_selection.csv.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 small pilot with clear success measures</a:t>
            </a:r>
          </a:p>
          <a:p/>
          <a:p/>
          <a:p/>
          <a:p>
            <a:r>
              <a:t>Evidence: Source: proposed strategy, derived from notebook limitations; no pilot or rollout has occurred.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Recommended next step: a measured pilot</a:t>
            </a:r>
          </a:p>
          <a:p/>
          <a:p/>
          <a:p/>
          <a:p>
            <a:r>
              <a:t>Evidence: Source: integrated findings from Steps 4-5; proposals are not measured business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5CDD0"/>
                </a:solidFill>
                <a:latin typeface="Arial"/>
              </a:defRPr>
            </a:pPr>
            <a:r>
              <a:t>OLIST / BUSINESS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Use the analysis to plan a measured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425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C0CED5"/>
                </a:solidFill>
                <a:latin typeface="Arial"/>
              </a:defRPr>
            </a:pPr>
            <a:r>
              <a:t>Source: Final_Project.ipynb, executed Steps 1-5; exported model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0CED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222500"/>
            <a:ext cx="10795000" cy="825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Understand customer groups. Improve sales planning. Keep decisions under</a:t>
            </a:r>
          </a:p>
          <a:p>
            <a:pPr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3492500"/>
            <a:ext cx="3492500" cy="1905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3492500"/>
            <a:ext cx="50800" cy="1905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36830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CUSTOMER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41148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2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889500"/>
            <a:ext cx="3035300" cy="482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Broad patterns to investigate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492500"/>
            <a:ext cx="3492500" cy="1905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3492500"/>
            <a:ext cx="50800" cy="19050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6830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FORECAST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5C3E"/>
                </a:solidFill>
                <a:latin typeface="Arial"/>
              </a:defRPr>
            </a:pPr>
            <a:r>
              <a:t>Limited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89500"/>
            <a:ext cx="3035300" cy="482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Simple rules still perform better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1500" y="3492500"/>
            <a:ext cx="3492500" cy="1905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1500" y="3492500"/>
            <a:ext cx="50800" cy="19050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0100" y="36830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FINANCIAL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100" y="41148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5C3E"/>
                </a:solidFill>
                <a:latin typeface="Arial"/>
              </a:defRPr>
            </a:pPr>
            <a:r>
              <a:t>Unproven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0100" y="4889500"/>
            <a:ext cx="3035300" cy="482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ROI requires a controlled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42000"/>
            <a:ext cx="109220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0CED5"/>
                </a:solidFill>
                <a:latin typeface="Arial"/>
              </a:defRPr>
            </a:pPr>
            <a:r>
              <a:t>Historical Olist study: findings support investigation, not a promise of live commercial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BUSINESS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Two business decisions guide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Final_Project.ipynb, executed Steps 1-5; exported model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082800"/>
            <a:ext cx="5397500" cy="302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082800"/>
            <a:ext cx="50800" cy="3022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273300"/>
            <a:ext cx="4940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CUSTOMER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2705100"/>
            <a:ext cx="4940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Who needs attention?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479800"/>
            <a:ext cx="4940300" cy="160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Use purchase patterns to design and test relevant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outreach.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6500" y="2082800"/>
            <a:ext cx="5397500" cy="302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6500" y="2082800"/>
            <a:ext cx="50800" cy="3022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100" y="2273300"/>
            <a:ext cx="4940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OPERATIONS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2705100"/>
            <a:ext cx="4940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What may sell next?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3479800"/>
            <a:ext cx="4940300" cy="160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Compare forecasts with simple rules before using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them to order stock.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Scope: a 6,000-customer sample and two training-selected five-product sets. Recorded sales are not total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BUSINESS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The large single-order group still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04_customer_business_profiles.csv; 6,000-customer development sample.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095500"/>
            <a:ext cx="5397500" cy="26924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095500"/>
            <a:ext cx="50800" cy="26924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286000"/>
            <a:ext cx="4940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SINGLE-ORDER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2717800"/>
            <a:ext cx="4940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5,800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492500"/>
            <a:ext cx="4940300" cy="127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Median recorded spend: BRL 84.99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Share of sample spending: 93.8%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6500" y="2095500"/>
            <a:ext cx="5397500" cy="26924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6500" y="2095500"/>
            <a:ext cx="50800" cy="26924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100" y="2286000"/>
            <a:ext cx="4940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REPEAT / BROADER BASKET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2717800"/>
            <a:ext cx="4940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200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3492500"/>
            <a:ext cx="4940300" cy="127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Median recorded spend: BRL 176.95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Share of sample spending: 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5054600"/>
            <a:ext cx="11112500" cy="444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13748"/>
                </a:solidFill>
                <a:latin typeface="Arial"/>
              </a:defRPr>
            </a:pPr>
            <a:r>
              <a:t>A smaller individual basket does not make the largest customer group unimportant.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These are sample profiles, not validated lifetime-value or loyalty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BUSINESS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Investigate the first-purchase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notebook §4.4 and Step 2 feasibility discussion; proposed follow-up, not measured effects.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97100"/>
            <a:ext cx="3492500" cy="29464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197100"/>
            <a:ext cx="50800" cy="29464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3876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INVESTIGATE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28194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594100"/>
            <a:ext cx="3035300" cy="152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Review delivery delays, ratings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and product issues.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7100"/>
            <a:ext cx="3492500" cy="29464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197100"/>
            <a:ext cx="50800" cy="29464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3876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194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F82"/>
                </a:solidFill>
                <a:latin typeface="Arial"/>
              </a:defRPr>
            </a:pPr>
            <a:r>
              <a:t>Relevant outreach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94100"/>
            <a:ext cx="3035300" cy="152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Include single-order customers;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avoid segment-only exclusion.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1500" y="2197100"/>
            <a:ext cx="3492500" cy="29464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1500" y="2197100"/>
            <a:ext cx="50800" cy="29464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0100" y="23876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0100" y="28194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7F82"/>
                </a:solidFill>
                <a:latin typeface="Arial"/>
              </a:defRPr>
            </a:pPr>
            <a:r>
              <a:t>Incremental benefit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100" y="3594100"/>
            <a:ext cx="3035300" cy="152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Compare with a randomized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control group over the same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period.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Repeat-purchase classification was retired. One observed order does not mean permanent churn.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BUSINESS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Keep simple forecasting rules in the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04_forecast_test_comparison.csv; 04_daily_trends.csv.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362200"/>
            <a:ext cx="2768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Four-week 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324100"/>
            <a:ext cx="46990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324100"/>
            <a:ext cx="3232300" cy="342900"/>
          </a:xfrm>
          <a:prstGeom prst="rect">
            <a:avLst/>
          </a:prstGeom>
          <a:solidFill>
            <a:srgbClr val="9EA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400" y="23622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96D7D"/>
                </a:solidFill>
                <a:latin typeface="Arial"/>
              </a:defRPr>
            </a:pPr>
            <a:r>
              <a:t>0.894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302000"/>
            <a:ext cx="2768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Weekly Random Forest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3263900"/>
            <a:ext cx="46990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3263900"/>
            <a:ext cx="3691571" cy="3429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400" y="33020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2"/>
                </a:solidFill>
                <a:latin typeface="Arial"/>
              </a:defRPr>
            </a:pPr>
            <a:r>
              <a:t>1.021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4343400"/>
            <a:ext cx="11176000" cy="812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05C3E"/>
                </a:solidFill>
                <a:latin typeface="Arial"/>
              </a:defRPr>
            </a:pPr>
            <a:r>
              <a:t>Weekly RF error is 14.2% higher. Daily models matched 0/5 observed trend</a:t>
            </a:r>
          </a:p>
          <a:p>
            <a:pPr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05C3E"/>
                </a:solidFill>
                <a:latin typeface="Arial"/>
              </a:defRPr>
            </a:pPr>
            <a:r>
              <a:t>directions.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Error is average items per product-week, across four horizons. Human review remains necessary.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BUSINESS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Concentrate review where recorded activity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04_forecast_business_profiles.csv; 16 evaluated weeks, five weekly-selected products.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689100"/>
            <a:ext cx="11176000" cy="292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96D7D"/>
                </a:solidFill>
                <a:latin typeface="Arial"/>
              </a:defRPr>
            </a:pPr>
            <a:r>
              <a:t>Recorded items across 16 evaluation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057400"/>
            <a:ext cx="18161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Product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6500" y="2019300"/>
            <a:ext cx="46355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76500" y="2019300"/>
            <a:ext cx="4171950" cy="3429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4400" y="20574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2"/>
                </a:solidFill>
                <a:latin typeface="Arial"/>
              </a:defRPr>
            </a:pPr>
            <a:r>
              <a:t>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2667000"/>
            <a:ext cx="18161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Product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76500" y="2628900"/>
            <a:ext cx="46355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76500" y="2628900"/>
            <a:ext cx="198664" cy="342900"/>
          </a:xfrm>
          <a:prstGeom prst="rect">
            <a:avLst/>
          </a:prstGeom>
          <a:solidFill>
            <a:srgbClr val="9EA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4400" y="26670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96D7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3276600"/>
            <a:ext cx="18161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Product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6500" y="3238500"/>
            <a:ext cx="46355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76500" y="3238500"/>
            <a:ext cx="794657" cy="342900"/>
          </a:xfrm>
          <a:prstGeom prst="rect">
            <a:avLst/>
          </a:prstGeom>
          <a:solidFill>
            <a:srgbClr val="9EA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4400" y="32766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96D7D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3886200"/>
            <a:ext cx="18161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Product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76500" y="3848100"/>
            <a:ext cx="46355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76500" y="3848100"/>
            <a:ext cx="3810" cy="342900"/>
          </a:xfrm>
          <a:prstGeom prst="rect">
            <a:avLst/>
          </a:prstGeom>
          <a:solidFill>
            <a:srgbClr val="9EA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4400" y="38862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96D7D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000" y="4495800"/>
            <a:ext cx="18161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Product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76500" y="4457700"/>
            <a:ext cx="46355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76500" y="4457700"/>
            <a:ext cx="198664" cy="342900"/>
          </a:xfrm>
          <a:prstGeom prst="rect">
            <a:avLst/>
          </a:prstGeom>
          <a:solidFill>
            <a:srgbClr val="9EA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4400" y="44958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96D7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1400" y="2247900"/>
            <a:ext cx="3022600" cy="876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5336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007F82"/>
                </a:solidFill>
                <a:latin typeface="Arial"/>
              </a:defRPr>
            </a:pPr>
            <a:r>
              <a:t>78%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1400" y="3238500"/>
            <a:ext cx="3022600" cy="1803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of this small product set's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recorded sales came from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Product 1. Review its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forecasts first.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For quiet products, check availability before assuming declining demand or changing stock orders.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BUSINESS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What would a customer pilot need to earn?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illustrative assumptions only; presentations/roi_scenarios.csv. No observed ROI claimed.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044700"/>
            <a:ext cx="11176000" cy="812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13748"/>
                </a:solidFill>
                <a:latin typeface="Arial"/>
              </a:defRPr>
            </a:pPr>
            <a:r>
              <a:t>ASSUMPTIONS: 1,000 customers; BRL 40 contribution per extra order; BRL 1 contact cost + BRL</a:t>
            </a:r>
          </a:p>
          <a:p>
            <a:pPr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13748"/>
                </a:solidFill>
                <a:latin typeface="Arial"/>
              </a:defRPr>
            </a:pPr>
            <a:r>
              <a:t>500 setup.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3136900"/>
            <a:ext cx="2768600" cy="5080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" y="3263900"/>
            <a:ext cx="2540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Assumed uplift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2000" y="3136900"/>
            <a:ext cx="2514600" cy="5080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263900"/>
            <a:ext cx="228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Extra orders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42000" y="3136900"/>
            <a:ext cx="2959100" cy="5080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9000" y="3263900"/>
            <a:ext cx="2730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Net value (BRL)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6500" y="3136900"/>
            <a:ext cx="2832100" cy="5080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500" y="32639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3670300"/>
            <a:ext cx="2768600" cy="508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97300"/>
            <a:ext cx="2540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1 percentage 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02000" y="3670300"/>
            <a:ext cx="2514600" cy="508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3797300"/>
            <a:ext cx="228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0" y="3670300"/>
            <a:ext cx="2959100" cy="508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69000" y="3797300"/>
            <a:ext cx="2730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-1,100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6500" y="3670300"/>
            <a:ext cx="2832100" cy="508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3500" y="37973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-73.3%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000" y="4203700"/>
            <a:ext cx="2768600" cy="50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00" y="4330700"/>
            <a:ext cx="2540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3 percentage points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02000" y="4203700"/>
            <a:ext cx="2514600" cy="50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4330700"/>
            <a:ext cx="228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0" y="4203700"/>
            <a:ext cx="2959100" cy="50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9000" y="4330700"/>
            <a:ext cx="2730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-300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6500" y="4203700"/>
            <a:ext cx="2832100" cy="50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53500" y="43307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-20.0%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000" y="4737100"/>
            <a:ext cx="2768600" cy="508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000" y="4864100"/>
            <a:ext cx="2540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5 percentage points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02000" y="4737100"/>
            <a:ext cx="2514600" cy="508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4864100"/>
            <a:ext cx="228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0" y="4737100"/>
            <a:ext cx="2959100" cy="508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69000" y="4864100"/>
            <a:ext cx="2730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+500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26500" y="4737100"/>
            <a:ext cx="2832100" cy="508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3500" y="48641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+33.3%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Break-even: +3.75 percentage points, or at least 38 extra orders. These are scenarios, not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BUSINESS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Keep customer access and uncertainty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Step 5 audit; configs/step5_bias_audit.json; 05_state_selection.csv.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095500"/>
            <a:ext cx="3492500" cy="27051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095500"/>
            <a:ext cx="50800" cy="27051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2860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UNEQUAL SAMPLE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27178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5C3E"/>
                </a:solidFill>
                <a:latin typeface="Arial"/>
              </a:defRPr>
            </a:pPr>
            <a:r>
              <a:t>3.95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492500"/>
            <a:ext cx="3035300" cy="1282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State selection-rate gap for a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hypothetical offer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095500"/>
            <a:ext cx="3492500" cy="27051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095500"/>
            <a:ext cx="50800" cy="27051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IMPORTANT MISSING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178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5C3E"/>
                </a:solidFill>
                <a:latin typeface="Arial"/>
              </a:defRPr>
            </a:pPr>
            <a:r>
              <a:t>4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92500"/>
            <a:ext cx="3035300" cy="1282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No gender, race, age or income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1500" y="2095500"/>
            <a:ext cx="3492500" cy="27051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1500" y="2095500"/>
            <a:ext cx="50800" cy="27051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0100" y="22860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PRACTICAL SAFEGUARD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0100" y="27178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100" y="3492500"/>
            <a:ext cx="3035300" cy="1282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Avoid automatic exclusion or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replenishment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5054600"/>
            <a:ext cx="11176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13748"/>
                </a:solidFill>
                <a:latin typeface="Arial"/>
              </a:defRPr>
            </a:pPr>
            <a:r>
              <a:t>The state gap warrants investigation; small groups make it uncertain.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Proposed mitigations need testing. Geography is not a substitute for protected attributes.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BUSINESS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Run a small pilot with clear success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proposed strategy, derived from notebook limitations; no pilot or rollout has occurred.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082800"/>
            <a:ext cx="2324100" cy="6223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209800"/>
            <a:ext cx="20955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0" y="2082800"/>
            <a:ext cx="4864100" cy="6223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4500" y="2209800"/>
            <a:ext cx="46355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7000" y="2082800"/>
            <a:ext cx="3911600" cy="6223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4000" y="2209800"/>
            <a:ext cx="36830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Evidence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730500"/>
            <a:ext cx="2324100" cy="6223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2857500"/>
            <a:ext cx="20955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Prepare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7500" y="2730500"/>
            <a:ext cx="4864100" cy="6223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4500" y="2857500"/>
            <a:ext cx="46355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Confirm costs, consent and availability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0" y="2730500"/>
            <a:ext cx="3911600" cy="6223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4000" y="2857500"/>
            <a:ext cx="36830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Usable data; named owners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378200"/>
            <a:ext cx="2324100" cy="6223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505200"/>
            <a:ext cx="20955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Test customers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7500" y="3378200"/>
            <a:ext cx="4864100" cy="6223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84500" y="3505200"/>
            <a:ext cx="46355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Randomize outreach and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7000" y="3378200"/>
            <a:ext cx="3911600" cy="6223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4000" y="3505200"/>
            <a:ext cx="36830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Incremental contribution; reach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025900"/>
            <a:ext cx="2324100" cy="6223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152900"/>
            <a:ext cx="20955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Test forecasts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57500" y="4025900"/>
            <a:ext cx="4864100" cy="6223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84500" y="4152900"/>
            <a:ext cx="46355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Compare on new dates in shadow mode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47000" y="4025900"/>
            <a:ext cx="3911600" cy="6223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74000" y="4152900"/>
            <a:ext cx="36830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Error vs simple benchmark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4673600"/>
            <a:ext cx="2324100" cy="6223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800600"/>
            <a:ext cx="20955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Decide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57500" y="4673600"/>
            <a:ext cx="4864100" cy="6223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84500" y="4800600"/>
            <a:ext cx="46355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Review value, uncertainty and coverage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47000" y="4673600"/>
            <a:ext cx="3911600" cy="6223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74000" y="4800600"/>
            <a:ext cx="368300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Documented go / revise / stop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Use newly collected, relevant data. Historical 2017-2018 results do not establish current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5CDD0"/>
                </a:solidFill>
                <a:latin typeface="Arial"/>
              </a:defRPr>
            </a:pPr>
            <a:r>
              <a:t>OLIST / BUSINESS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Recommended next step: a measured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425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C0CED5"/>
                </a:solidFill>
                <a:latin typeface="Arial"/>
              </a:defRPr>
            </a:pPr>
            <a:r>
              <a:t>Source: integrated findings from Steps 4-5; proposals are not measured business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0CED5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209800"/>
            <a:ext cx="10985500" cy="1435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1 Keep the large single-order group in scope.</a:t>
            </a:r>
          </a:p>
          <a:p>
            <a:pPr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2 Retain simple sales benchmarks and human review.</a:t>
            </a:r>
          </a:p>
          <a:p>
            <a:pPr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3 Invest in better evidence before automation.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4140200"/>
            <a:ext cx="11049000" cy="127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Success means positive incremental contribution, better forecast error on new dates,</a:t>
            </a:r>
          </a:p>
          <a:p>
            <a:pPr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and acceptable customer coverage with uncertainty reported.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5816600"/>
            <a:ext cx="11049000" cy="469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0CED5"/>
                </a:solidFill>
                <a:latin typeface="Arial"/>
              </a:defRPr>
            </a:pPr>
            <a:r>
              <a:t>No proven ROI yet. Report complete; fresh Windows analysis run verified. Fairness gaps remain.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| Business presentation</dc:title>
  <dc:subject>AIM capstone: customer segmentation, sales forecasting and ethical AI</dc:subject>
  <dc:creator>AIM capstone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