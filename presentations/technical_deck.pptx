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Customer segments are clear.</a:t>
            </a:r>
          </a:p>
          <a:p>
            <a:r>
              <a:t>Forecast gains are not.</a:t>
            </a:r>
          </a:p>
          <a:p/>
          <a:p>
            <a:r>
              <a:t>Source: https://www.kaggle.com/datasets/olistbr/brazilian-ecommerce/versions/2</a:t>
            </a:r>
          </a:p>
          <a:p>
            <a:r>
              <a:t>Publisher: Olist; listed license: CC BY-NC-SA 4.0. The dataset is historical and does not represent today's Olist operations. Raw-file hashes and counts are in docs/DATA_MANIFEST.json.</a:t>
            </a:r>
          </a:p>
          <a:p/>
          <a:p>
            <a:r>
              <a:t>Evidence: Source: Final_Project.ipynb, executed Steps 1-5; exported model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with the correct unit of analysis</a:t>
            </a:r>
          </a:p>
          <a:p/>
          <a:p>
            <a:r>
              <a:t>Source: https://www.kaggle.com/datasets/olistbr/brazilian-ecommerce/versions/2</a:t>
            </a:r>
          </a:p>
          <a:p>
            <a:r>
              <a:t>Publisher: Olist; listed license: CC BY-NC-SA 4.0. The dataset is historical and does not represent today's Olist operations. Raw-file hashes and counts are in docs/DATA_MANIFEST.json.</a:t>
            </a:r>
          </a:p>
          <a:p/>
          <a:p>
            <a:r>
              <a:t>Evidence: Source: notebook §§2.1-2.3; docs/DATA_MANIFEST.json.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 features before comparing models</a:t>
            </a:r>
          </a:p>
          <a:p/>
          <a:p>
            <a:r>
              <a:t>Correlation filtering at absolute Spearman &gt;0.90 retains recency, frequency, spend and variety. Average order value overlaps with spend; history length overlaps with recency. This uses the historical development population, not an unseen-customer test. Preparation and PCA are refitted on the clustering sample and stability subsets. Two-component PCA is an explicit reduced comparison; the 95%-variance preparation did not compress below four features.</a:t>
            </a:r>
          </a:p>
          <a:p/>
          <a:p>
            <a:r>
              <a:t>Evidence: Source: notebook Step 3; artifacts/step3_bc/feature_selection.csv; configs/step4_models.json.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Respect time when tuning and evaluating</a:t>
            </a:r>
          </a:p>
          <a:p/>
          <a:p>
            <a:r>
              <a:t>Weekly: 12 settings across 3 four-origin validation windows starting 2 Oct 2017, 6 Nov 2017, 1 Jan 2018. Every training origin +28 days is no later than its scoring start. Test: 65 origins x products, four outputs; outcomes end 23 Jul exclusive. Daily: 364/91/112 days for train/validation/test; 1,820/455/560 product-day rows. Four RF settings, 5 separate models; refit train+validation once. Top products differ between weekly and daily tasks. ML-only weekly selection was requested after prior test inspection; no new untouched-test claim.</a:t>
            </a:r>
          </a:p>
          <a:p/>
          <a:p>
            <a:r>
              <a:t>Evidence: Source: configs/step4_models.json; configs/step4_daily_forecast.json.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K-Means gives a stable, broad two-group split</a:t>
            </a:r>
          </a:p>
          <a:p/>
          <a:p>
            <a:r>
              <a:t>22 trials across K-Means k=2..6 and DBSCAN eps .2/.4/.6, min_samples 10/30 in selected-feature and PCA spaces. Compare silhouette in one feature space on the same 1,453 assigned evaluation customers. Three 80% resamples refit preparation/PCA. ARI measures agreement on shared assigned customers, not unseen-customer accuracy. K-Means original and PCA tie on common silhouette; original features retained for readability. No test-population generalization claim.</a:t>
            </a:r>
          </a:p>
          <a:p/>
          <a:p>
            <a:r>
              <a:t>Evidence: Source: 04_cluster_finalists.csv; 04_cluster_stability.csv.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Random Forest wins within ML, not overall</a:t>
            </a:r>
          </a:p>
          <a:p/>
          <a:p>
            <a:r>
              <a:t>Weekly RF: 100 trees, max_depth=3, min_samples_leaf=5. Tree: max_depth=2, min_samples_leaf=8. Weekly validation MAE: RF 1.996, tree 2.110; benchmark mean 1.954. Baselines are benchmark-only. Test MAE averages 260 product-origin-horizon predictions. The last-week rule is numerically best in test; benchmark selection used validation.</a:t>
            </a:r>
          </a:p>
          <a:p/>
          <a:p>
            <a:r>
              <a:t>Evidence: Source: 04_forecast_test_comparison.csv; 04_forecast_ml_ranking.csv.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Calendar-only daily forecasts miss direction</a:t>
            </a:r>
          </a:p>
          <a:p/>
          <a:p>
            <a:r>
              <a:t>Daily models: one RF per training-selected top product, 100 trees, depth 6, min_samples_leaf 7, seed42. Inputs: elapsed day number, month, day of month, day of week; no sales history. Trend = mean of last 28 test days minus first 28; +/-0.1 items/day is a descriptive flat band, not a statistical significance rule. RF cannot extrapolate sustained time trends. Full product IDs are available in 04_daily_products.csv.</a:t>
            </a:r>
          </a:p>
          <a:p/>
          <a:p>
            <a:r>
              <a:t>Evidence: Source: 04_daily_trends.csv; configs/step4_daily_forecast.json.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Recent activity drives the weekly predictions</a:t>
            </a:r>
          </a:p>
          <a:p/>
          <a:p>
            <a:r>
              <a:t>Actual sklearn partial_dependence, kind=both, method=brute, output week 1; 180 development rows, 15 grid points, 30 ICE lines shown. PDP is the averaged model response; ICE shows product-date variation. Lags and their mean are correlated, so varying one independently creates some unrealistic combinations. These curves are not causal effects. Method: https://scikit-learn.org/stable/modules/partial_dependence.html</a:t>
            </a:r>
          </a:p>
          <a:p/>
          <a:p>
            <a:r>
              <a:t>Evidence: Source: notebook §5.1; 05_pdp.csv; reports/figures/05_pdp_ice.png.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Bias auditing exposes limits, not a fairness pass</a:t>
            </a:r>
          </a:p>
          <a:p/>
          <a:p>
            <a:r>
              <a:t>Scenario only: offer to higher-median-spend segment, 200/6000 customers; no offers sent. 14 states with &gt;=50 sample customers, 5718/6000 covered. Gap=max-min selection rate; ratio=min/max. PA 0/54 vs SP 94/2380; PA Wilson interval extends to 6.64%. Intervals exclude model-selection uncertainty. No valid eligibility/benefit label exists for equalized odds. No gender, race, age, or income fields; geography is not a proxy label. Definitions: https://fairlearn.org/main/user_guide/assessment/common_fairness_metrics.html</a:t>
            </a:r>
          </a:p>
          <a:p/>
          <a:p>
            <a:r>
              <a:t>Evidence: Source: configs/step5_bias_audit.json; 05_sales_errors.csv; 05_state_selection.csv.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Reproducible evidence; clear remaining gaps</a:t>
            </a:r>
          </a:p>
          <a:p/>
          <a:p>
            <a:r>
              <a:t>Commands from project root: ../.venv/Scripts/python.exe scripts/run_notebook.py; scripts/check_daily_forecasting.py; scripts/check_bias_audit.py. Single notebook, model reloads and raw hashes verified. Clean-environment recreation remains unverified. Final report currently contains only Bias &amp; Fairness Analysis; other chapters remain pending. Decks do not resolve missing protected-attribute data, mitigation validation, or public repository publication.</a:t>
            </a:r>
          </a:p>
          <a:p/>
          <a:p>
            <a:r>
              <a:t>Evidence: Source: notebook, scripts/, configs/, models/, reports/; docs/STATUS.md.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355600"/>
            <a:ext cx="431800" cy="508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2200" y="2794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5CDD0"/>
                </a:solidFill>
                <a:latin typeface="Arial"/>
              </a:defRPr>
            </a:pPr>
            <a:r>
              <a:t>OLIST / TECHNICAL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762000"/>
            <a:ext cx="11176000" cy="1193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596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FFFFFF"/>
                </a:solidFill>
                <a:latin typeface="Arial"/>
              </a:defRPr>
            </a:pPr>
            <a:r>
              <a:t>Customer segments are clear.</a:t>
            </a:r>
          </a:p>
          <a:p>
            <a:pPr>
              <a:lnSpc>
                <a:spcPts val="3596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FFFFFF"/>
                </a:solidFill>
                <a:latin typeface="Arial"/>
              </a:defRPr>
            </a:pPr>
            <a:r>
              <a:t>Forecast gains are not.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8000" y="6426200"/>
            <a:ext cx="11176000" cy="12700"/>
          </a:xfrm>
          <a:prstGeom prst="rect">
            <a:avLst/>
          </a:prstGeom>
          <a:solidFill>
            <a:srgbClr val="425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8000" y="6527800"/>
            <a:ext cx="104775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986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C0CED5"/>
                </a:solidFill>
                <a:latin typeface="Arial"/>
              </a:defRPr>
            </a:pPr>
            <a:r>
              <a:t>Source: Final_Project.ipynb, executed Steps 1-5; exported model results.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14100" y="6515100"/>
            <a:ext cx="4699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C0CED5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2184400"/>
            <a:ext cx="10795000" cy="812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668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FFFFF"/>
                </a:solidFill>
                <a:latin typeface="Arial"/>
              </a:defRPr>
            </a:pPr>
            <a:r>
              <a:t>A reproducible eCommerce study of customer segmentation and observed-sales</a:t>
            </a:r>
          </a:p>
          <a:p>
            <a:pPr>
              <a:lnSpc>
                <a:spcPts val="2668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FFFFF"/>
                </a:solidFill>
                <a:latin typeface="Arial"/>
              </a:defRPr>
            </a:pPr>
            <a:r>
              <a:t>forecasting.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3479800"/>
            <a:ext cx="3492500" cy="19050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8000" y="3479800"/>
            <a:ext cx="50800" cy="19050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600" y="3670300"/>
            <a:ext cx="3035300" cy="317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276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96D7D"/>
                </a:solidFill>
                <a:latin typeface="Arial"/>
              </a:defRPr>
            </a:pPr>
            <a:r>
              <a:t>SEGMENTATION SAMPLE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600" y="4102100"/>
            <a:ext cx="3035300" cy="673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711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2"/>
                </a:solidFill>
                <a:latin typeface="Arial"/>
              </a:defRPr>
            </a:pPr>
            <a:r>
              <a:t>6,000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600" y="4876800"/>
            <a:ext cx="3035300" cy="482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customers before April 2018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3479800"/>
            <a:ext cx="3492500" cy="19050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3479800"/>
            <a:ext cx="50800" cy="19050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3670300"/>
            <a:ext cx="3035300" cy="317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276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96D7D"/>
                </a:solidFill>
                <a:latin typeface="Arial"/>
              </a:defRPr>
            </a:pPr>
            <a:r>
              <a:t>FORECASTING 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102100"/>
            <a:ext cx="3035300" cy="673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711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2"/>
                </a:solidFill>
                <a:latin typeface="Arial"/>
              </a:defRPr>
            </a:pPr>
            <a:r>
              <a:t>5 products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876800"/>
            <a:ext cx="3035300" cy="482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selected using earlier sales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91500" y="3479800"/>
            <a:ext cx="3492500" cy="19050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91500" y="3479800"/>
            <a:ext cx="50800" cy="19050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20100" y="3670300"/>
            <a:ext cx="3035300" cy="317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276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96D7D"/>
                </a:solidFill>
                <a:latin typeface="Arial"/>
              </a:defRPr>
            </a:pPr>
            <a:r>
              <a:t>NOTEBOOK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0100" y="4102100"/>
            <a:ext cx="3035300" cy="673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711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2"/>
                </a:solidFill>
                <a:latin typeface="Arial"/>
              </a:defRPr>
            </a:pPr>
            <a:r>
              <a:t>36 cells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0100" y="4876800"/>
            <a:ext cx="3035300" cy="482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fresh-kernel execution passed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8000" y="5842000"/>
            <a:ext cx="10985500" cy="431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507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0CED5"/>
                </a:solidFill>
                <a:latin typeface="Arial"/>
              </a:defRPr>
            </a:pPr>
            <a:r>
              <a:t>Tasks: unsupervised clustering + supervised regression. Repeat-purchase classification was retired.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355600"/>
            <a:ext cx="431800" cy="508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2200" y="2794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7F82"/>
                </a:solidFill>
                <a:latin typeface="Arial"/>
              </a:defRPr>
            </a:pPr>
            <a:r>
              <a:t>OLIST / TECHNICAL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762000"/>
            <a:ext cx="11176000" cy="1193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596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42D40"/>
                </a:solidFill>
                <a:latin typeface="Arial"/>
              </a:defRPr>
            </a:pPr>
            <a:r>
              <a:t>Start with the correct unit of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8000" y="6426200"/>
            <a:ext cx="11176000" cy="12700"/>
          </a:xfrm>
          <a:prstGeom prst="rect">
            <a:avLst/>
          </a:prstGeom>
          <a:solidFill>
            <a:srgbClr val="D5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8000" y="6527800"/>
            <a:ext cx="104775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986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96D7D"/>
                </a:solidFill>
                <a:latin typeface="Arial"/>
              </a:defRPr>
            </a:pPr>
            <a:r>
              <a:t>Source: notebook §§2.1-2.3; docs/DATA_MANIFEST.json.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14100" y="6515100"/>
            <a:ext cx="4699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596D7D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032000"/>
            <a:ext cx="3492500" cy="22860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8000" y="2032000"/>
            <a:ext cx="50800" cy="22860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6600" y="2222500"/>
            <a:ext cx="3035300" cy="317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276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96D7D"/>
                </a:solidFill>
                <a:latin typeface="Arial"/>
              </a:defRPr>
            </a:pPr>
            <a:r>
              <a:t>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600" y="2654300"/>
            <a:ext cx="3035300" cy="673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711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2"/>
                </a:solidFill>
                <a:latin typeface="Arial"/>
              </a:defRPr>
            </a:pPr>
            <a:r>
              <a:t>99,441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600" y="3429000"/>
            <a:ext cx="3035300" cy="863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One order_id per order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2032000"/>
            <a:ext cx="3492500" cy="22860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2032000"/>
            <a:ext cx="50800" cy="22860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222500"/>
            <a:ext cx="3035300" cy="317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276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96D7D"/>
                </a:solidFill>
                <a:latin typeface="Arial"/>
              </a:defRPr>
            </a:pPr>
            <a:r>
              <a:t>CUSTOMERS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654300"/>
            <a:ext cx="3035300" cy="673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711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2"/>
                </a:solidFill>
                <a:latin typeface="Arial"/>
              </a:defRPr>
            </a:pPr>
            <a:r>
              <a:t>99,441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429000"/>
            <a:ext cx="3035300" cy="863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customer_unique_id links repeat</a:t>
            </a:r>
          </a:p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buyers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91500" y="2032000"/>
            <a:ext cx="3492500" cy="22860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91500" y="2032000"/>
            <a:ext cx="50800" cy="22860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20100" y="2222500"/>
            <a:ext cx="3035300" cy="317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276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96D7D"/>
                </a:solidFill>
                <a:latin typeface="Arial"/>
              </a:defRPr>
            </a:pPr>
            <a:r>
              <a:t>ORDER ITEMS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0100" y="2654300"/>
            <a:ext cx="3035300" cy="673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711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2"/>
                </a:solidFill>
                <a:latin typeface="Arial"/>
              </a:defRPr>
            </a:pPr>
            <a:r>
              <a:t>112,650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0100" y="3429000"/>
            <a:ext cx="3035300" cy="863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Multiple item rows can belong to</a:t>
            </a:r>
          </a:p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an order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8000" y="4584700"/>
            <a:ext cx="11176000" cy="787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204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13748"/>
                </a:solidFill>
                <a:latin typeface="Arial"/>
              </a:defRPr>
            </a:pPr>
            <a:r>
              <a:t>Join on validated keys; remove invalid required values and duplicates. Count item rows for sales and</a:t>
            </a:r>
          </a:p>
          <a:p>
            <a:pPr>
              <a:lnSpc>
                <a:spcPts val="2204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13748"/>
                </a:solidFill>
                <a:latin typeface="Arial"/>
              </a:defRPr>
            </a:pPr>
            <a:r>
              <a:t>distinct orders for customer frequency.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8000" y="5689600"/>
            <a:ext cx="11176000" cy="5588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8000" y="5689600"/>
            <a:ext cx="50800" cy="5588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500" y="5816600"/>
            <a:ext cx="10795000" cy="406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507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13748"/>
                </a:solidFill>
                <a:latin typeface="Arial"/>
              </a:defRPr>
            </a:pPr>
            <a:r>
              <a:t>Approval timestamps define the event; approval does not prove delivery. Preserve valid sales history for modeling.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355600"/>
            <a:ext cx="431800" cy="508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2200" y="2794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7F82"/>
                </a:solidFill>
                <a:latin typeface="Arial"/>
              </a:defRPr>
            </a:pPr>
            <a:r>
              <a:t>OLIST / TECHNICAL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762000"/>
            <a:ext cx="11176000" cy="1193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596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42D40"/>
                </a:solidFill>
                <a:latin typeface="Arial"/>
              </a:defRPr>
            </a:pPr>
            <a:r>
              <a:t>Build features before comparing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8000" y="6426200"/>
            <a:ext cx="11176000" cy="12700"/>
          </a:xfrm>
          <a:prstGeom prst="rect">
            <a:avLst/>
          </a:prstGeom>
          <a:solidFill>
            <a:srgbClr val="D5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8000" y="6527800"/>
            <a:ext cx="104775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986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96D7D"/>
                </a:solidFill>
                <a:latin typeface="Arial"/>
              </a:defRPr>
            </a:pPr>
            <a:r>
              <a:t>Source: notebook Step 3; artifacts/step3_bc/feature_selection.csv; configs/step4_models.json.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14100" y="6515100"/>
            <a:ext cx="4699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596D7D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2032000"/>
            <a:ext cx="5207000" cy="355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507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F82"/>
                </a:solidFill>
                <a:latin typeface="Arial"/>
              </a:defRPr>
            </a:pPr>
            <a:r>
              <a:t>CUSTOMERS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2540000"/>
            <a:ext cx="5207000" cy="1168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13748"/>
                </a:solidFill>
                <a:latin typeface="Arial"/>
              </a:defRPr>
            </a:pPr>
            <a:r>
              <a:t>Recency, order frequency,</a:t>
            </a:r>
          </a:p>
          <a:p>
            <a:pPr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13748"/>
                </a:solidFill>
                <a:latin typeface="Arial"/>
              </a:defRPr>
            </a:pPr>
            <a:r>
              <a:t>recorded spending, product</a:t>
            </a:r>
          </a:p>
          <a:p>
            <a:pPr>
              <a:lnSpc>
                <a:spcPts val="2899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13748"/>
                </a:solidFill>
                <a:latin typeface="Arial"/>
              </a:defRPr>
            </a:pPr>
            <a:r>
              <a:t>variety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000" y="3848100"/>
            <a:ext cx="5207000" cy="1473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13748"/>
                </a:solidFill>
                <a:latin typeface="Arial"/>
              </a:defRPr>
            </a:pPr>
            <a:r>
              <a:t>Remove overlapping average spend and history</a:t>
            </a:r>
          </a:p>
          <a:p>
            <a:pPr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13748"/>
                </a:solidFill>
                <a:latin typeface="Arial"/>
              </a:defRPr>
            </a:pPr>
            <a:r>
              <a:t>length. Impute, log-transform skewed inputs, scale,</a:t>
            </a:r>
          </a:p>
          <a:p>
            <a:pPr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13748"/>
                </a:solidFill>
                <a:latin typeface="Arial"/>
              </a:defRPr>
            </a:pPr>
            <a:r>
              <a:t>and compare four features with 2D PCA.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3500" y="2032000"/>
            <a:ext cx="5270500" cy="355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507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F82"/>
                </a:solidFill>
                <a:latin typeface="Arial"/>
              </a:defRPr>
            </a:pPr>
            <a:r>
              <a:t>PRODUCT SALES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3500" y="2540000"/>
            <a:ext cx="5270500" cy="1079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783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13748"/>
                </a:solidFill>
                <a:latin typeface="Arial"/>
              </a:defRPr>
            </a:pPr>
            <a:r>
              <a:t>Weekly: lags 1-4 + recent mean</a:t>
            </a:r>
          </a:p>
          <a:p>
            <a:pPr>
              <a:lnSpc>
                <a:spcPts val="2783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13748"/>
                </a:solidFill>
                <a:latin typeface="Arial"/>
              </a:defRPr>
            </a:pPr>
            <a:r>
              <a:t>Daily: calendar inputs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3500" y="3848100"/>
            <a:ext cx="5270500" cy="1473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13748"/>
                </a:solidFill>
                <a:latin typeface="Arial"/>
              </a:defRPr>
            </a:pPr>
            <a:r>
              <a:t>Keep zero-sales periods. Use complete historical</a:t>
            </a:r>
          </a:p>
          <a:p>
            <a:pPr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13748"/>
                </a:solidFill>
                <a:latin typeface="Arial"/>
              </a:defRPr>
            </a:pPr>
            <a:r>
              <a:t>targets. Product IDs identify the daily models; they</a:t>
            </a:r>
          </a:p>
          <a:p>
            <a:pPr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13748"/>
                </a:solidFill>
                <a:latin typeface="Arial"/>
              </a:defRPr>
            </a:pPr>
            <a:r>
              <a:t>are not numeric predictors.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8000" y="5689600"/>
            <a:ext cx="11176000" cy="5588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8000" y="5689600"/>
            <a:ext cx="50800" cy="5588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8500" y="5816600"/>
            <a:ext cx="10795000" cy="406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507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13748"/>
                </a:solidFill>
                <a:latin typeface="Arial"/>
              </a:defRPr>
            </a:pPr>
            <a:r>
              <a:t>Price outlier filtering is for EDA only. It does not erase valid purchase history or target counts.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355600"/>
            <a:ext cx="431800" cy="508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2200" y="2794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7F82"/>
                </a:solidFill>
                <a:latin typeface="Arial"/>
              </a:defRPr>
            </a:pPr>
            <a:r>
              <a:t>OLIST / TECHNICAL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762000"/>
            <a:ext cx="11176000" cy="1193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596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42D40"/>
                </a:solidFill>
                <a:latin typeface="Arial"/>
              </a:defRPr>
            </a:pPr>
            <a:r>
              <a:t>Respect time when tuning and evaluating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8000" y="6426200"/>
            <a:ext cx="11176000" cy="12700"/>
          </a:xfrm>
          <a:prstGeom prst="rect">
            <a:avLst/>
          </a:prstGeom>
          <a:solidFill>
            <a:srgbClr val="D5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8000" y="6527800"/>
            <a:ext cx="104775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986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96D7D"/>
                </a:solidFill>
                <a:latin typeface="Arial"/>
              </a:defRPr>
            </a:pPr>
            <a:r>
              <a:t>Source: configs/step4_models.json; configs/step4_daily_forecast.json.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14100" y="6515100"/>
            <a:ext cx="4699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596D7D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2006600"/>
            <a:ext cx="11176000" cy="342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204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13748"/>
                </a:solidFill>
                <a:latin typeface="Arial"/>
              </a:defRPr>
            </a:pPr>
            <a:r>
              <a:t>WEEKLY: 12 settings / 3 chronological validation windows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2476500"/>
            <a:ext cx="11176000" cy="546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13748"/>
                </a:solidFill>
                <a:latin typeface="Arial"/>
              </a:defRPr>
            </a:pPr>
            <a:r>
              <a:t>Training outcomes must finish before scoring. Final forecasts: 2 April-25 June 2018; targets end 22 July.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8000" y="3340100"/>
            <a:ext cx="3492500" cy="20320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8000" y="3340100"/>
            <a:ext cx="50800" cy="20320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600" y="3530600"/>
            <a:ext cx="3035300" cy="317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276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96D7D"/>
                </a:solidFill>
                <a:latin typeface="Arial"/>
              </a:defRPr>
            </a:pPr>
            <a:r>
              <a:t>DAILY TRAIN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600" y="3962400"/>
            <a:ext cx="3035300" cy="673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711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2"/>
                </a:solidFill>
                <a:latin typeface="Arial"/>
              </a:defRPr>
            </a:pPr>
            <a:r>
              <a:t>2017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600" y="4737100"/>
            <a:ext cx="3035300" cy="609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2 Jan-31 Dec; select top five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3340100"/>
            <a:ext cx="3492500" cy="20320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3340100"/>
            <a:ext cx="50800" cy="20320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3530600"/>
            <a:ext cx="3035300" cy="317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276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96D7D"/>
                </a:solidFill>
                <a:latin typeface="Arial"/>
              </a:defRPr>
            </a:pPr>
            <a:r>
              <a:t>DAILY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962400"/>
            <a:ext cx="3035300" cy="673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711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2"/>
                </a:solidFill>
                <a:latin typeface="Arial"/>
              </a:defRPr>
            </a:pPr>
            <a:r>
              <a:t>Jan-Mar 2018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737100"/>
            <a:ext cx="3035300" cy="609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Through 1 Apr; tune settings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91500" y="3340100"/>
            <a:ext cx="3492500" cy="20320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91500" y="3340100"/>
            <a:ext cx="50800" cy="20320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20100" y="3530600"/>
            <a:ext cx="3035300" cy="317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276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96D7D"/>
                </a:solidFill>
                <a:latin typeface="Arial"/>
              </a:defRPr>
            </a:pPr>
            <a:r>
              <a:t>DAILY 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0100" y="3962400"/>
            <a:ext cx="3035300" cy="673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711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2"/>
                </a:solidFill>
                <a:latin typeface="Arial"/>
              </a:defRPr>
            </a:pPr>
            <a:r>
              <a:t>Apr-Jul 2018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0100" y="4737100"/>
            <a:ext cx="3035300" cy="609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2 Apr-22 Jul; fixed models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8000" y="5689600"/>
            <a:ext cx="11176000" cy="5588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8000" y="5689600"/>
            <a:ext cx="50800" cy="558800"/>
          </a:xfrm>
          <a:prstGeom prst="rect">
            <a:avLst/>
          </a:prstGeom>
          <a:solidFill>
            <a:srgbClr val="C0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8500" y="5816600"/>
            <a:ext cx="10795000" cy="406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507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13748"/>
                </a:solidFill>
                <a:latin typeface="Arial"/>
              </a:defRPr>
            </a:pPr>
            <a:r>
              <a:t>These are historical backtests: evaluation dates were already viewed. Weekly target windows overlap.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355600"/>
            <a:ext cx="431800" cy="508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2200" y="2794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7F82"/>
                </a:solidFill>
                <a:latin typeface="Arial"/>
              </a:defRPr>
            </a:pPr>
            <a:r>
              <a:t>OLIST / TECHNICAL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762000"/>
            <a:ext cx="11176000" cy="1193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596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42D40"/>
                </a:solidFill>
                <a:latin typeface="Arial"/>
              </a:defRPr>
            </a:pPr>
            <a:r>
              <a:t>K-Means gives a stable, broad two-group split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8000" y="6426200"/>
            <a:ext cx="11176000" cy="12700"/>
          </a:xfrm>
          <a:prstGeom prst="rect">
            <a:avLst/>
          </a:prstGeom>
          <a:solidFill>
            <a:srgbClr val="D5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8000" y="6527800"/>
            <a:ext cx="104775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986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96D7D"/>
                </a:solidFill>
                <a:latin typeface="Arial"/>
              </a:defRPr>
            </a:pPr>
            <a:r>
              <a:t>Source: 04_cluster_finalists.csv; 04_cluster_stability.csv.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14100" y="6515100"/>
            <a:ext cx="4699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596D7D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1841500"/>
            <a:ext cx="11176000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96D7D"/>
                </a:solidFill>
                <a:latin typeface="Arial"/>
              </a:defRPr>
            </a:pPr>
            <a:r>
              <a:t>Common-sample silhouette: higher means clearer separation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2260600"/>
            <a:ext cx="276860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K-Means / 4 features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2222500"/>
            <a:ext cx="4572000" cy="3429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2222500"/>
            <a:ext cx="3387555" cy="3429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3400" y="2260600"/>
            <a:ext cx="1066800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7F82"/>
                </a:solidFill>
                <a:latin typeface="Arial"/>
              </a:defRPr>
            </a:pPr>
            <a:r>
              <a:t>0.741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000" y="3060700"/>
            <a:ext cx="276860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K-Means / PCA (2)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3022600"/>
            <a:ext cx="4572000" cy="3429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9000" y="3022600"/>
            <a:ext cx="3387555" cy="342900"/>
          </a:xfrm>
          <a:prstGeom prst="rect">
            <a:avLst/>
          </a:prstGeom>
          <a:solidFill>
            <a:srgbClr val="9EAD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53400" y="3060700"/>
            <a:ext cx="1066800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596D7D"/>
                </a:solidFill>
                <a:latin typeface="Arial"/>
              </a:defRPr>
            </a:pPr>
            <a:r>
              <a:t>0.741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000" y="3860800"/>
            <a:ext cx="276860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DBSCAN / PCA (2)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3822700"/>
            <a:ext cx="4572000" cy="3429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29000" y="3822700"/>
            <a:ext cx="2750750" cy="342900"/>
          </a:xfrm>
          <a:prstGeom prst="rect">
            <a:avLst/>
          </a:prstGeom>
          <a:solidFill>
            <a:srgbClr val="9EAD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53400" y="3860800"/>
            <a:ext cx="1066800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596D7D"/>
                </a:solidFill>
                <a:latin typeface="Arial"/>
              </a:defRPr>
            </a:pPr>
            <a:r>
              <a:t>0.602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8000" y="4851400"/>
            <a:ext cx="10985500" cy="558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13748"/>
                </a:solidFill>
                <a:latin typeface="Arial"/>
              </a:defRPr>
            </a:pPr>
            <a:r>
              <a:t>Selected K-Means: 2 groups | 100% assigned | mean resampling ARI 1.00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8000" y="5689600"/>
            <a:ext cx="11176000" cy="5588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8000" y="5689600"/>
            <a:ext cx="50800" cy="5588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8500" y="5816600"/>
            <a:ext cx="10795000" cy="406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507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13748"/>
                </a:solidFill>
                <a:latin typeface="Arial"/>
              </a:defRPr>
            </a:pPr>
            <a:r>
              <a:t>Descriptive results for a 6,000-customer sample; strong separation does not prove marketing uplift.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355600"/>
            <a:ext cx="431800" cy="508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2200" y="2794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7F82"/>
                </a:solidFill>
                <a:latin typeface="Arial"/>
              </a:defRPr>
            </a:pPr>
            <a:r>
              <a:t>OLIST / TECHNICAL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762000"/>
            <a:ext cx="11176000" cy="1193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596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42D40"/>
                </a:solidFill>
                <a:latin typeface="Arial"/>
              </a:defRPr>
            </a:pPr>
            <a:r>
              <a:t>Random Forest wins within ML, not overall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8000" y="6426200"/>
            <a:ext cx="11176000" cy="12700"/>
          </a:xfrm>
          <a:prstGeom prst="rect">
            <a:avLst/>
          </a:prstGeom>
          <a:solidFill>
            <a:srgbClr val="D5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8000" y="6527800"/>
            <a:ext cx="104775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986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96D7D"/>
                </a:solidFill>
                <a:latin typeface="Arial"/>
              </a:defRPr>
            </a:pPr>
            <a:r>
              <a:t>Source: 04_forecast_test_comparison.csv; 04_forecast_ml_ranking.csv.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14100" y="6515100"/>
            <a:ext cx="4699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596D7D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2260600"/>
            <a:ext cx="276860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Last-week benchmark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2222500"/>
            <a:ext cx="4699000" cy="3429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2222500"/>
            <a:ext cx="3141934" cy="342900"/>
          </a:xfrm>
          <a:prstGeom prst="rect">
            <a:avLst/>
          </a:prstGeom>
          <a:solidFill>
            <a:srgbClr val="9EAD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80400" y="2260600"/>
            <a:ext cx="1066800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596D7D"/>
                </a:solidFill>
                <a:latin typeface="Arial"/>
              </a:defRPr>
            </a:pPr>
            <a:r>
              <a:t>0.869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000" y="2933700"/>
            <a:ext cx="276860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Four-week mean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2895600"/>
            <a:ext cx="4699000" cy="3429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9000" y="2895600"/>
            <a:ext cx="3232300" cy="342900"/>
          </a:xfrm>
          <a:prstGeom prst="rect">
            <a:avLst/>
          </a:prstGeom>
          <a:solidFill>
            <a:srgbClr val="9EAD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0400" y="2933700"/>
            <a:ext cx="1066800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596D7D"/>
                </a:solidFill>
                <a:latin typeface="Arial"/>
              </a:defRPr>
            </a:pPr>
            <a:r>
              <a:t>0.894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000" y="3606800"/>
            <a:ext cx="276860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Random Forest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29000" y="3568700"/>
            <a:ext cx="4699000" cy="3429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29000" y="3568700"/>
            <a:ext cx="3691571" cy="3429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0400" y="3606800"/>
            <a:ext cx="1066800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7F82"/>
                </a:solidFill>
                <a:latin typeface="Arial"/>
              </a:defRPr>
            </a:pPr>
            <a:r>
              <a:t>1.021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000" y="4279900"/>
            <a:ext cx="2768600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Decision Tree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29000" y="4241800"/>
            <a:ext cx="4699000" cy="3429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29000" y="4241800"/>
            <a:ext cx="3964456" cy="3429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80400" y="4279900"/>
            <a:ext cx="1066800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972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7F82"/>
                </a:solidFill>
                <a:latin typeface="Arial"/>
              </a:defRPr>
            </a:pPr>
            <a:r>
              <a:t>1.097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8000" y="5054600"/>
            <a:ext cx="10985500" cy="431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Weekly error: items per product-week, averaged across the four horizons. Lower is better.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8000" y="5689600"/>
            <a:ext cx="11176000" cy="5588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8000" y="5689600"/>
            <a:ext cx="50800" cy="558800"/>
          </a:xfrm>
          <a:prstGeom prst="rect">
            <a:avLst/>
          </a:prstGeom>
          <a:solidFill>
            <a:srgbClr val="C0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8500" y="5816600"/>
            <a:ext cx="10795000" cy="406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507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13748"/>
                </a:solidFill>
                <a:latin typeface="Arial"/>
              </a:defRPr>
            </a:pPr>
            <a:r>
              <a:t>RF error is 14.2% higher than the four-week mean. No forecasting improvement is claimed.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355600"/>
            <a:ext cx="431800" cy="508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2200" y="2794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7F82"/>
                </a:solidFill>
                <a:latin typeface="Arial"/>
              </a:defRPr>
            </a:pPr>
            <a:r>
              <a:t>OLIST / TECHNICAL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762000"/>
            <a:ext cx="11176000" cy="1193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596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42D40"/>
                </a:solidFill>
                <a:latin typeface="Arial"/>
              </a:defRPr>
            </a:pPr>
            <a:r>
              <a:t>Calendar-only daily forecasts miss direction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8000" y="6426200"/>
            <a:ext cx="11176000" cy="12700"/>
          </a:xfrm>
          <a:prstGeom prst="rect">
            <a:avLst/>
          </a:prstGeom>
          <a:solidFill>
            <a:srgbClr val="D5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8000" y="6527800"/>
            <a:ext cx="104775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986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96D7D"/>
                </a:solidFill>
                <a:latin typeface="Arial"/>
              </a:defRPr>
            </a:pPr>
            <a:r>
              <a:t>Source: 04_daily_trends.csv; configs/step4_daily_forecast.json.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14100" y="6515100"/>
            <a:ext cx="4699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596D7D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019300"/>
            <a:ext cx="2387600" cy="482600"/>
          </a:xfrm>
          <a:prstGeom prst="rect">
            <a:avLst/>
          </a:prstGeom>
          <a:solidFill>
            <a:srgbClr val="14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" y="2146300"/>
            <a:ext cx="2159000" cy="355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Daily product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1000" y="2019300"/>
            <a:ext cx="2895600" cy="482600"/>
          </a:xfrm>
          <a:prstGeom prst="rect">
            <a:avLst/>
          </a:prstGeom>
          <a:solidFill>
            <a:srgbClr val="14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8000" y="2146300"/>
            <a:ext cx="2667000" cy="355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Predicted trend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42000" y="2019300"/>
            <a:ext cx="2895600" cy="482600"/>
          </a:xfrm>
          <a:prstGeom prst="rect">
            <a:avLst/>
          </a:prstGeom>
          <a:solidFill>
            <a:srgbClr val="14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69000" y="2146300"/>
            <a:ext cx="2667000" cy="355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Observed trend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63000" y="2019300"/>
            <a:ext cx="2895600" cy="482600"/>
          </a:xfrm>
          <a:prstGeom prst="rect">
            <a:avLst/>
          </a:prstGeom>
          <a:solidFill>
            <a:srgbClr val="14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90000" y="2146300"/>
            <a:ext cx="2667000" cy="355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Daily error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8000" y="2527300"/>
            <a:ext cx="2387600" cy="4826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2654300"/>
            <a:ext cx="2159000" cy="355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13748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1000" y="2527300"/>
            <a:ext cx="2895600" cy="4826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48000" y="2654300"/>
            <a:ext cx="2667000" cy="355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13748"/>
                </a:solidFill>
                <a:latin typeface="Arial"/>
              </a:defRPr>
            </a:pPr>
            <a:r>
              <a:t>Roughly flat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42000" y="2527300"/>
            <a:ext cx="2895600" cy="4826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69000" y="2654300"/>
            <a:ext cx="2667000" cy="355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13748"/>
                </a:solidFill>
                <a:latin typeface="Arial"/>
              </a:defRPr>
            </a:pPr>
            <a:r>
              <a:t>Upward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63000" y="2527300"/>
            <a:ext cx="2895600" cy="4826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90000" y="2654300"/>
            <a:ext cx="2667000" cy="355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13748"/>
                </a:solidFill>
                <a:latin typeface="Arial"/>
              </a:defRPr>
            </a:pPr>
            <a:r>
              <a:t>0.70 items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8000" y="3035300"/>
            <a:ext cx="2387600" cy="482600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000" y="3162300"/>
            <a:ext cx="2159000" cy="355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13748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21000" y="3035300"/>
            <a:ext cx="2895600" cy="482600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8000" y="3162300"/>
            <a:ext cx="2667000" cy="355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13748"/>
                </a:solidFill>
                <a:latin typeface="Arial"/>
              </a:defRPr>
            </a:pPr>
            <a:r>
              <a:t>Roughly flat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42000" y="3035300"/>
            <a:ext cx="2895600" cy="482600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69000" y="3162300"/>
            <a:ext cx="2667000" cy="355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13748"/>
                </a:solidFill>
                <a:latin typeface="Arial"/>
              </a:defRPr>
            </a:pPr>
            <a:r>
              <a:t>Downward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63000" y="3035300"/>
            <a:ext cx="2895600" cy="482600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90000" y="3162300"/>
            <a:ext cx="2667000" cy="355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13748"/>
                </a:solidFill>
                <a:latin typeface="Arial"/>
              </a:defRPr>
            </a:pPr>
            <a:r>
              <a:t>1.27 items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8000" y="3543300"/>
            <a:ext cx="2387600" cy="4826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000" y="3670300"/>
            <a:ext cx="2159000" cy="355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13748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21000" y="3543300"/>
            <a:ext cx="2895600" cy="4826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48000" y="3670300"/>
            <a:ext cx="2667000" cy="355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13748"/>
                </a:solidFill>
                <a:latin typeface="Arial"/>
              </a:defRPr>
            </a:pPr>
            <a:r>
              <a:t>Upward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42000" y="3543300"/>
            <a:ext cx="2895600" cy="4826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69000" y="3670300"/>
            <a:ext cx="2667000" cy="355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13748"/>
                </a:solidFill>
                <a:latin typeface="Arial"/>
              </a:defRPr>
            </a:pPr>
            <a:r>
              <a:t>Roughly flat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63000" y="3543300"/>
            <a:ext cx="2895600" cy="4826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90000" y="3670300"/>
            <a:ext cx="2667000" cy="355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13748"/>
                </a:solidFill>
                <a:latin typeface="Arial"/>
              </a:defRPr>
            </a:pPr>
            <a:r>
              <a:t>0.42 items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8000" y="4051300"/>
            <a:ext cx="2387600" cy="482600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000" y="4178300"/>
            <a:ext cx="2159000" cy="355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13748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21000" y="4051300"/>
            <a:ext cx="2895600" cy="482600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048000" y="4178300"/>
            <a:ext cx="2667000" cy="355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13748"/>
                </a:solidFill>
                <a:latin typeface="Arial"/>
              </a:defRPr>
            </a:pPr>
            <a:r>
              <a:t>Roughly flat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42000" y="4051300"/>
            <a:ext cx="2895600" cy="482600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69000" y="4178300"/>
            <a:ext cx="2667000" cy="355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13748"/>
                </a:solidFill>
                <a:latin typeface="Arial"/>
              </a:defRPr>
            </a:pPr>
            <a:r>
              <a:t>Upward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763000" y="4051300"/>
            <a:ext cx="2895600" cy="482600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890000" y="4178300"/>
            <a:ext cx="2667000" cy="355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13748"/>
                </a:solidFill>
                <a:latin typeface="Arial"/>
              </a:defRPr>
            </a:pPr>
            <a:r>
              <a:t>0.96 items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8000" y="4559300"/>
            <a:ext cx="2387600" cy="4826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5000" y="4686300"/>
            <a:ext cx="2159000" cy="355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13748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921000" y="4559300"/>
            <a:ext cx="2895600" cy="4826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048000" y="4686300"/>
            <a:ext cx="2667000" cy="355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13748"/>
                </a:solidFill>
                <a:latin typeface="Arial"/>
              </a:defRPr>
            </a:pPr>
            <a:r>
              <a:t>Roughly flat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842000" y="4559300"/>
            <a:ext cx="2895600" cy="4826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69000" y="4686300"/>
            <a:ext cx="2667000" cy="355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13748"/>
                </a:solidFill>
                <a:latin typeface="Arial"/>
              </a:defRPr>
            </a:pPr>
            <a:r>
              <a:t>Downward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763000" y="4559300"/>
            <a:ext cx="2895600" cy="4826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890000" y="4686300"/>
            <a:ext cx="2667000" cy="355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13748"/>
                </a:solidFill>
                <a:latin typeface="Arial"/>
              </a:defRPr>
            </a:pPr>
            <a:r>
              <a:t>0.90 items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8000" y="5257800"/>
            <a:ext cx="11176000" cy="304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623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96D7D"/>
                </a:solidFill>
                <a:latin typeface="Arial"/>
              </a:defRPr>
            </a:pPr>
            <a:r>
              <a:t>Trend: last 28 vs first 28 test days; changes within +/-0.1 items/day count as flat.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8000" y="5689600"/>
            <a:ext cx="11176000" cy="5588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08000" y="5689600"/>
            <a:ext cx="50800" cy="558800"/>
          </a:xfrm>
          <a:prstGeom prst="rect">
            <a:avLst/>
          </a:prstGeom>
          <a:solidFill>
            <a:srgbClr val="C0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98500" y="5816600"/>
            <a:ext cx="10795000" cy="406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507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13748"/>
                </a:solidFill>
                <a:latin typeface="Arial"/>
              </a:defRPr>
            </a:pPr>
            <a:r>
              <a:t>Trend matches: 0/5. Daily MAE: RF 0.850 vs average benchmark 0.817.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355600"/>
            <a:ext cx="431800" cy="508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2200" y="2794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7F82"/>
                </a:solidFill>
                <a:latin typeface="Arial"/>
              </a:defRPr>
            </a:pPr>
            <a:r>
              <a:t>OLIST / TECHNICAL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762000"/>
            <a:ext cx="11176000" cy="1193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596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42D40"/>
                </a:solidFill>
                <a:latin typeface="Arial"/>
              </a:defRPr>
            </a:pPr>
            <a:r>
              <a:t>Recent activity drives the weekly predictions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8000" y="6426200"/>
            <a:ext cx="11176000" cy="12700"/>
          </a:xfrm>
          <a:prstGeom prst="rect">
            <a:avLst/>
          </a:prstGeom>
          <a:solidFill>
            <a:srgbClr val="D5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8000" y="6527800"/>
            <a:ext cx="104775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986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96D7D"/>
                </a:solidFill>
                <a:latin typeface="Arial"/>
              </a:defRPr>
            </a:pPr>
            <a:r>
              <a:t>Source: notebook §5.1; 05_pdp.csv; reports/figures/05_pdp_ice.png.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14100" y="6515100"/>
            <a:ext cx="4699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596D7D"/>
                </a:solidFill>
                <a:latin typeface="Arial"/>
              </a:defRPr>
            </a:pPr>
            <a:r>
              <a:t>08</a:t>
            </a:r>
          </a:p>
        </p:txBody>
      </p:sp>
      <p:pic>
        <p:nvPicPr>
          <p:cNvPr id="9" name="Picture 8" descr="05_pdp_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3071" y="2019300"/>
            <a:ext cx="9365856" cy="32385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8000" y="5689600"/>
            <a:ext cx="11176000" cy="5588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8000" y="5689600"/>
            <a:ext cx="50800" cy="5588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8500" y="5816600"/>
            <a:ext cx="10795000" cy="406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507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13748"/>
                </a:solidFill>
                <a:latin typeface="Arial"/>
              </a:defRPr>
            </a:pPr>
            <a:r>
              <a:t>Dark lines: average response (PDP). Pale lines: individual responses (ICE). Explanation is not causation.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355600"/>
            <a:ext cx="431800" cy="508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2200" y="2794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7F82"/>
                </a:solidFill>
                <a:latin typeface="Arial"/>
              </a:defRPr>
            </a:pPr>
            <a:r>
              <a:t>OLIST / TECHNICAL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762000"/>
            <a:ext cx="11176000" cy="1193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596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42D40"/>
                </a:solidFill>
                <a:latin typeface="Arial"/>
              </a:defRPr>
            </a:pPr>
            <a:r>
              <a:t>Bias auditing exposes limits, not a fairness 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8000" y="6426200"/>
            <a:ext cx="11176000" cy="12700"/>
          </a:xfrm>
          <a:prstGeom prst="rect">
            <a:avLst/>
          </a:prstGeom>
          <a:solidFill>
            <a:srgbClr val="D5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8000" y="6527800"/>
            <a:ext cx="104775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986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96D7D"/>
                </a:solidFill>
                <a:latin typeface="Arial"/>
              </a:defRPr>
            </a:pPr>
            <a:r>
              <a:t>Source: configs/step5_bias_audit.json; 05_sales_errors.csv; 05_state_selection.csv.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14100" y="6515100"/>
            <a:ext cx="4699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596D7D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095500"/>
            <a:ext cx="3492500" cy="23368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8000" y="2095500"/>
            <a:ext cx="50800" cy="2336800"/>
          </a:xfrm>
          <a:prstGeom prst="rect">
            <a:avLst/>
          </a:prstGeom>
          <a:solidFill>
            <a:srgbClr val="C0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6600" y="2286000"/>
            <a:ext cx="3035300" cy="317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276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96D7D"/>
                </a:solidFill>
                <a:latin typeface="Arial"/>
              </a:defRPr>
            </a:pPr>
            <a:r>
              <a:t>STATE SELECTION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600" y="2717800"/>
            <a:ext cx="3035300" cy="673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711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C05C3E"/>
                </a:solidFill>
                <a:latin typeface="Arial"/>
              </a:defRPr>
            </a:pPr>
            <a:r>
              <a:t>3.95 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600" y="3492500"/>
            <a:ext cx="3035300" cy="914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Hypothetical segment-only offer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2095500"/>
            <a:ext cx="3492500" cy="23368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2095500"/>
            <a:ext cx="50800" cy="2336800"/>
          </a:xfrm>
          <a:prstGeom prst="rect">
            <a:avLst/>
          </a:prstGeom>
          <a:solidFill>
            <a:srgbClr val="C0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286000"/>
            <a:ext cx="3035300" cy="317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276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96D7D"/>
                </a:solidFill>
                <a:latin typeface="Arial"/>
              </a:defRPr>
            </a:pPr>
            <a:r>
              <a:t>MIN/MAX RATE RATIO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717800"/>
            <a:ext cx="3035300" cy="673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711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C05C3E"/>
                </a:solidFill>
                <a:latin typeface="Arial"/>
              </a:defRPr>
            </a:pPr>
            <a:r>
              <a:t>0.00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492500"/>
            <a:ext cx="3035300" cy="914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Driven by a small state sample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91500" y="2095500"/>
            <a:ext cx="3492500" cy="23368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91500" y="2095500"/>
            <a:ext cx="50800" cy="2336800"/>
          </a:xfrm>
          <a:prstGeom prst="rect">
            <a:avLst/>
          </a:prstGeom>
          <a:solidFill>
            <a:srgbClr val="C0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20100" y="2286000"/>
            <a:ext cx="3035300" cy="317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276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96D7D"/>
                </a:solidFill>
                <a:latin typeface="Arial"/>
              </a:defRPr>
            </a:pPr>
            <a:r>
              <a:t>PROTECTED ATTRIBUTES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0100" y="2717800"/>
            <a:ext cx="3035300" cy="673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711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C05C3E"/>
                </a:solidFill>
                <a:latin typeface="Arial"/>
              </a:defRPr>
            </a:pPr>
            <a:r>
              <a:t>Missing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0100" y="3492500"/>
            <a:ext cx="3035300" cy="914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55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13748"/>
                </a:solidFill>
                <a:latin typeface="Arial"/>
              </a:defRPr>
            </a:pPr>
            <a:r>
              <a:t>Gender, race, age and income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8000" y="4699000"/>
            <a:ext cx="11176000" cy="800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13748"/>
                </a:solidFill>
                <a:latin typeface="Arial"/>
              </a:defRPr>
            </a:pPr>
            <a:r>
              <a:t>Both forecasting models underpredict positive-sales periods. Propose inclusive outreach, better coverage and</a:t>
            </a:r>
          </a:p>
          <a:p>
            <a:pPr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13748"/>
                </a:solidFill>
                <a:latin typeface="Arial"/>
              </a:defRPr>
            </a:pPr>
            <a:r>
              <a:t>human review; validate before deployment.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8000" y="5689600"/>
            <a:ext cx="11176000" cy="5588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8000" y="5689600"/>
            <a:ext cx="50800" cy="558800"/>
          </a:xfrm>
          <a:prstGeom prst="rect">
            <a:avLst/>
          </a:prstGeom>
          <a:solidFill>
            <a:srgbClr val="C0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500" y="5816600"/>
            <a:ext cx="10795000" cy="406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507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13748"/>
                </a:solidFill>
                <a:latin typeface="Arial"/>
              </a:defRPr>
            </a:pPr>
            <a:r>
              <a:t>Geographic disparity does not establish discrimination. Sensitive-group fairness remains unmeasurable.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8000" y="355600"/>
            <a:ext cx="431800" cy="508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2200" y="279400"/>
            <a:ext cx="10541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7F82"/>
                </a:solidFill>
                <a:latin typeface="Arial"/>
              </a:defRPr>
            </a:pPr>
            <a:r>
              <a:t>OLIST / TECHNICAL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762000"/>
            <a:ext cx="11176000" cy="11938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596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42D40"/>
                </a:solidFill>
                <a:latin typeface="Arial"/>
              </a:defRPr>
            </a:pPr>
            <a:r>
              <a:t>Reproducible evidence; clear remaining gaps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8000" y="6426200"/>
            <a:ext cx="11176000" cy="12700"/>
          </a:xfrm>
          <a:prstGeom prst="rect">
            <a:avLst/>
          </a:prstGeom>
          <a:solidFill>
            <a:srgbClr val="D5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8000" y="6527800"/>
            <a:ext cx="104775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986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96D7D"/>
                </a:solidFill>
                <a:latin typeface="Arial"/>
              </a:defRPr>
            </a:pPr>
            <a:r>
              <a:t>Source: notebook, scripts/, configs/, models/, reports/; docs/STATUS.md.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14100" y="6515100"/>
            <a:ext cx="4699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596D7D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2082800"/>
            <a:ext cx="5143500" cy="393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623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2"/>
                </a:solidFill>
                <a:latin typeface="Arial"/>
              </a:defRPr>
            </a:pPr>
            <a:r>
              <a:t>WHAT IS SAVED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2692400"/>
            <a:ext cx="5143500" cy="2222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13748"/>
                </a:solidFill>
                <a:latin typeface="Arial"/>
              </a:defRPr>
            </a:pPr>
            <a:r>
              <a:t>One executed notebook</a:t>
            </a:r>
          </a:p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13748"/>
                </a:solidFill>
                <a:latin typeface="Arial"/>
              </a:defRPr>
            </a:pPr>
            <a:r>
              <a:t>Fitted models + preprocessing</a:t>
            </a:r>
          </a:p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13748"/>
                </a:solidFill>
                <a:latin typeface="Arial"/>
              </a:defRPr>
            </a:pPr>
            <a:r>
              <a:t>Configs, seeds and source hashes</a:t>
            </a:r>
          </a:p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13748"/>
                </a:solidFill>
                <a:latin typeface="Arial"/>
              </a:defRPr>
            </a:pPr>
            <a:r>
              <a:t>Predictions, metrics and figures</a:t>
            </a:r>
          </a:p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13748"/>
                </a:solidFill>
                <a:latin typeface="Arial"/>
              </a:defRPr>
            </a:pPr>
            <a:r>
              <a:t>Targeted leakage/audit checks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3500" y="2082800"/>
            <a:ext cx="5270500" cy="393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623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05C3E"/>
                </a:solidFill>
                <a:latin typeface="Arial"/>
              </a:defRPr>
            </a:pPr>
            <a:r>
              <a:t>WHAT COMES 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3500" y="2692400"/>
            <a:ext cx="5270500" cy="2222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13748"/>
                </a:solidFill>
                <a:latin typeface="Arial"/>
              </a:defRPr>
            </a:pPr>
            <a:r>
              <a:t>Validate on newly collected data</a:t>
            </a:r>
          </a:p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13748"/>
                </a:solidFill>
                <a:latin typeface="Arial"/>
              </a:defRPr>
            </a:pPr>
            <a:r>
              <a:t>Test practical mitigations</a:t>
            </a:r>
          </a:p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13748"/>
                </a:solidFill>
                <a:latin typeface="Arial"/>
              </a:defRPr>
            </a:pPr>
            <a:r>
              <a:t>Windows reproduction verified</a:t>
            </a:r>
          </a:p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13748"/>
                </a:solidFill>
                <a:latin typeface="Arial"/>
              </a:defRPr>
            </a:pPr>
            <a:r>
              <a:t>Combined final report complete</a:t>
            </a:r>
          </a:p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13748"/>
                </a:solidFill>
                <a:latin typeface="Arial"/>
              </a:defRPr>
            </a:pPr>
            <a:r>
              <a:t>Track results and limitations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8000" y="5689600"/>
            <a:ext cx="11176000" cy="55880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8000" y="5689600"/>
            <a:ext cx="50800" cy="5588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500" y="5816600"/>
            <a:ext cx="10795000" cy="406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507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13748"/>
                </a:solidFill>
                <a:latin typeface="Arial"/>
              </a:defRPr>
            </a:pPr>
            <a:r>
              <a:t>Conclusion: segmentation is descriptive; neither forecasting RF has demonstrated an overall benchmark gain.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Olist | Technical presentation</dc:title>
  <dc:subject>AIM capstone: customer segmentation, sales forecasting and ethical AI</dc:subject>
  <dc:creator>AIM capstone project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